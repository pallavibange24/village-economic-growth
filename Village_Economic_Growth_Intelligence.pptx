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Districts in Top 100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Tamil Nadu</c:v>
                </c:pt>
                <c:pt idx="1">
                  <c:v>Maharashtra</c:v>
                </c:pt>
                <c:pt idx="2">
                  <c:v>Karnataka</c:v>
                </c:pt>
                <c:pt idx="3">
                  <c:v>Uttar Pradesh</c:v>
                </c:pt>
                <c:pt idx="4">
                  <c:v>Gujarat</c:v>
                </c:pt>
                <c:pt idx="5">
                  <c:v>Bihar</c:v>
                </c:pt>
                <c:pt idx="6">
                  <c:v>Andhra Pradesh</c:v>
                </c:pt>
                <c:pt idx="7">
                  <c:v>Madhya Pradesh</c:v>
                </c:pt>
                <c:pt idx="8">
                  <c:v>Jharkhand</c:v>
                </c:pt>
                <c:pt idx="9">
                  <c:v>Kerala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</c:v>
                </c:pt>
                <c:pt idx="1">
                  <c:v>12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71-477D-BFF1-CD670236F5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203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3B59-3330-6838-4C0E-FFD0EAD3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6E11A-6253-824E-B0F0-98A09EDC9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6DEF4-4CEE-AFBC-6E61-9F931B513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6B18B-D071-A783-EFBE-CAC81A490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2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60508-7D1F-80AB-DFAC-C4CABC60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C3110-7D77-29A7-E755-E716C567A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3F416-0A03-9EAB-783A-79DCA4C2B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3CC7E-D890-3659-003E-695495F26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9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4B2EF-63C6-0899-B20B-229BBA43B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1610AE-8964-981A-1E56-43DA5974327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7398D0-4A3C-E87A-A27D-A1D01E99957F}"/>
              </a:ext>
            </a:extLst>
          </p:cNvPr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2F96FE-0B78-910C-8CE3-50240A9DE43E}"/>
              </a:ext>
            </a:extLst>
          </p:cNvPr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DBAE15-CA55-FF40-955D-028D2A7864CE}"/>
              </a:ext>
            </a:extLst>
          </p:cNvPr>
          <p:cNvSpPr/>
          <p:nvPr/>
        </p:nvSpPr>
        <p:spPr>
          <a:xfrm>
            <a:off x="5029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CBF45C-0B0A-957F-0DDB-E11F9DCECFE2}"/>
              </a:ext>
            </a:extLst>
          </p:cNvPr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107814-7180-E4AB-E02E-669BABE7C590}"/>
              </a:ext>
            </a:extLst>
          </p:cNvPr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16885ED-65E1-8101-0951-CB3B246BD5F5}"/>
              </a:ext>
            </a:extLst>
          </p:cNvPr>
          <p:cNvSpPr/>
          <p:nvPr/>
        </p:nvSpPr>
        <p:spPr>
          <a:xfrm>
            <a:off x="457200" y="30632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F749A6-A9B1-ABA6-6445-B3F854EF0A49}"/>
              </a:ext>
            </a:extLst>
          </p:cNvPr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3FE5304-BE13-F2D8-26DF-684F1FD0121C}"/>
              </a:ext>
            </a:extLst>
          </p:cNvPr>
          <p:cNvSpPr/>
          <p:nvPr/>
        </p:nvSpPr>
        <p:spPr>
          <a:xfrm>
            <a:off x="73152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93582-D15D-B720-EC99-072E80CF7A19}"/>
              </a:ext>
            </a:extLst>
          </p:cNvPr>
          <p:cNvSpPr txBox="1"/>
          <p:nvPr/>
        </p:nvSpPr>
        <p:spPr>
          <a:xfrm>
            <a:off x="2425484" y="1595288"/>
            <a:ext cx="5943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</a:t>
            </a: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38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KRITTER ASSIGNMENT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Village Economic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Growth Intelligence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Identifying India's Top 100 Fastest Growing Districts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Satellite Data (2019 – 2024)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Tools: </a:t>
            </a: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Earth Engine  |  Python  |  Google Colab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Real-Time GDP Data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Village &amp; district-level GDP is not published or tracked in India in real-time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Outdated Census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254203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Last Census published in 2011 — over 14 years of missing ground-level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801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417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Surveys are Expensive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254203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Traditional surveys are slow, costly, and cover only a fraction of India's 640,000+ villages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</a:t>
            </a:r>
            <a:r>
              <a:rPr lang="en-US" sz="1400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Satellite imagery captures economic signals -lights, construction, vegetation -continuously, for free,      across all of India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SOURCES &amp; WHY WE CHOSE THEM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14600" y="1143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06240" y="1143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97880" y="1143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Used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527048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270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5270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Nighttime Lights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14600" y="1527048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NOAA VIIRS DNB Monthly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06240" y="1527048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Earth Engine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97880" y="1527048"/>
            <a:ext cx="30632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proxy for economic activity &amp; electrification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8595360" cy="62179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1488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21488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Vegetation (NDVI)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14600" y="2148840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MODIS MOD13A3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06240" y="2148840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NASA / GEE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7880" y="21488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Measures agricultural productivity &amp; land use change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770632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77063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240" y="2770632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Built-up Area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14600" y="2770632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JRC GHSL Built Surface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06240" y="2770632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EU Joint Research Centre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27706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Tracks construction growth &amp; urbanization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392424"/>
            <a:ext cx="8595360" cy="62179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3924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7240" y="33924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District Boundaries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4600" y="3392424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FAO GAUL Level 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06240" y="3392424"/>
            <a:ext cx="16916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FAO / GEE Built-in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3392424"/>
            <a:ext cx="3063240" cy="62179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640 Indian districts — base geographic unit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⏱  Time Period: January 2019 → December 2024  (5-year change)   |   Platform: Google Earth Engine (free, browser-based)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 &amp; SCORING FRAMEWORK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1463040" cy="8229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Satellite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(GEE)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37360" y="114300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993392" y="1143000"/>
            <a:ext cx="146304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1143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 per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56432" y="114300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12464" y="1143000"/>
            <a:ext cx="1463040" cy="822960"/>
          </a:xfrm>
          <a:prstGeom prst="rect">
            <a:avLst/>
          </a:prstGeom>
          <a:solidFill>
            <a:srgbClr val="0F76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1143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Normalize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(0 → 1)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75504" y="114300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31536" y="1143000"/>
            <a:ext cx="146304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1536" y="1143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Weighted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94576" y="1143000"/>
            <a:ext cx="256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50608" y="1143000"/>
            <a:ext cx="1463040" cy="82296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50608" y="11430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100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2148840"/>
            <a:ext cx="8595360" cy="9601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1488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Growth Score  =  (NTL Change × 0.50)  +  (NDVI Change × 0.25)  +  (Built-up Change × 0.25)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4612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310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3822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Nighttime Lights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4114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Strongest proxy — directly reflects electricity use, commerce &amp; activity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246120"/>
            <a:ext cx="27432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310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91840" y="3822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NDVI Vegetation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91840" y="4114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Agriculture is primary livelihood in rural India — crop health = income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26480" y="3246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24612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310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17920" y="38221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Built-up Area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17920" y="4114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Construction = investment flowing into a region — urbanization signal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9816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 flipV="1">
            <a:off x="0" y="891153"/>
            <a:ext cx="9144000" cy="68967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3383280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🗺️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Paste your map screenshot here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(top100_map screenshot)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10 Fastest Growing Districts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114800" cy="31089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508760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2080" y="1508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12280" y="15087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0" y="1508760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1819656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1819656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12080" y="18196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Mumbai_City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12280" y="18196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Maharashtra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1819656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0.65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4114800" cy="31089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0600" y="2130552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0" y="21305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Daman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12280" y="21305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Daman &amp; Diu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0" y="2130552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</a:p>
        </p:txBody>
      </p:sp>
      <p:sp>
        <p:nvSpPr>
          <p:cNvPr id="23" name="Shape 21"/>
          <p:cNvSpPr/>
          <p:nvPr/>
        </p:nvSpPr>
        <p:spPr>
          <a:xfrm>
            <a:off x="4754880" y="2441448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2441448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12080" y="24414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Chandigarh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12280" y="24414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Chandigarh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0" y="2441448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0.44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2752344"/>
            <a:ext cx="4114800" cy="31089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00600" y="2752344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12080" y="27523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Mumbai Suburban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12280" y="27523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Maharashtra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0" y="2752344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063240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12080" y="30632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Bangalore Urban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12280" y="30632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Karnatakata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0" y="3063240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54880" y="3374136"/>
            <a:ext cx="4114800" cy="31089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00600" y="3374136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12080" y="33741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Gautam Buddha Nager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12280" y="33741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Uttar Pradesh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0" y="3374136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54880" y="3685032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00600" y="3685032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12080" y="36850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Salem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812280" y="36850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Tamil Nadu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29600" y="3685032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0.365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754880" y="3995928"/>
            <a:ext cx="4114800" cy="31089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3995928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212080" y="39959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Chennai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12280" y="3995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Tamil Nadu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29600" y="3995928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0.362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754880" y="4306824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4306824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212080" y="43068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Varanasi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12280" y="43068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Uttar Pradesh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229600" y="4306824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754880" y="4617720"/>
            <a:ext cx="4114800" cy="31089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9" name="Text 57"/>
          <p:cNvSpPr/>
          <p:nvPr/>
        </p:nvSpPr>
        <p:spPr>
          <a:xfrm>
            <a:off x="4800600" y="4617720"/>
            <a:ext cx="41148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212080" y="4617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Namakkal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812280" y="46177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Tamil Nadu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229600" y="4617720"/>
            <a:ext cx="685800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0.32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754880" y="49743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92179" y="4626864"/>
            <a:ext cx="4480560" cy="347472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48783" y="4626864"/>
            <a:ext cx="45239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growth concentrated in Southern &amp; Western India — Tamil Nadu, Maharashtra, and Karnataka lead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96A7CF12-D47B-3BFB-317A-EF41FB865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42062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REGIONAL DISTRIBUTION OF GROWTH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778192649"/>
              </p:ext>
            </p:extLst>
          </p:nvPr>
        </p:nvGraphicFramePr>
        <p:xfrm>
          <a:off x="274320" y="109728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143000"/>
            <a:ext cx="3063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1143000"/>
            <a:ext cx="64008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870448" y="11430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🥇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27648" y="11978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Tamil Nadu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27648" y="11978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26 districts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27648" y="14904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Dominates top 100 — strong NTL &amp; built-up growth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806440" y="2057400"/>
            <a:ext cx="3063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057400"/>
            <a:ext cx="64008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870448" y="20574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🥈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27648" y="21122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Maharashtra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27648" y="21122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districts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27648" y="24048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Mumbai corridor driving industrial growth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806440" y="2971800"/>
            <a:ext cx="3063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2971800"/>
            <a:ext cx="64008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5870448" y="29718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🥉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327648" y="30266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Karnataka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27648" y="30266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districts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27648" y="33192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Bengaluru tech hub radiating outward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806440" y="3886200"/>
            <a:ext cx="3063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3886200"/>
            <a:ext cx="64008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5870448" y="38862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327648" y="39410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Bihar &amp; Jharkhand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327648" y="39410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districts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327648" y="42336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Rapid catch-up growth in lagging states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LIMITATIONS &amp; NEXT STEPS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A5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LIMITATIONS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CA5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</a:t>
            </a:r>
            <a:r>
              <a:rPr lang="en-US" sz="11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District level used — village-level data not freely available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020824"/>
            <a:ext cx="41148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2082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CA5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</a:t>
            </a:r>
            <a:r>
              <a:rPr lang="en-US" sz="11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Proxy signals, not actual GDP or income measurements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624328"/>
            <a:ext cx="41148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6243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CA5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</a:t>
            </a:r>
            <a:r>
              <a:rPr lang="en-US" sz="11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Tamil Nadu has more districts — may inflate its ranking count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3227832"/>
            <a:ext cx="41148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22783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CA5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</a:t>
            </a:r>
            <a:r>
              <a:rPr lang="en-US" sz="11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 cover affects satellite readings in some regions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831336"/>
            <a:ext cx="411480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8313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CA5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</a:t>
            </a:r>
            <a:r>
              <a:rPr lang="en-US" sz="1100" dirty="0">
                <a:solidFill>
                  <a:srgbClr val="CBD5E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MODIS resolution (1 km) may miss small village-scale changes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NEXT STEPS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4114800" cy="530352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17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</a:t>
            </a:r>
            <a:r>
              <a:rPr lang="en-US" sz="1100" dirty="0">
                <a:solidFill>
                  <a:srgbClr val="CCFB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Obtain village-level boundaries (600,000+ villages)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020824"/>
            <a:ext cx="4114800" cy="530352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02082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</a:t>
            </a:r>
            <a:r>
              <a:rPr lang="en-US" sz="1100" dirty="0">
                <a:solidFill>
                  <a:srgbClr val="CCFB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road network growth as an additional signal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2624328"/>
            <a:ext cx="4114800" cy="530352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6243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</a:t>
            </a:r>
            <a:r>
              <a:rPr lang="en-US" sz="1100" dirty="0">
                <a:solidFill>
                  <a:srgbClr val="CCFB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hospital &amp; school density change indicators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3227832"/>
            <a:ext cx="4114800" cy="530352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22783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</a:t>
            </a:r>
            <a:r>
              <a:rPr lang="en-US" sz="1100" dirty="0">
                <a:solidFill>
                  <a:srgbClr val="CCFB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Validate findings with PMGSY &amp; MNREGA ground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3831336"/>
            <a:ext cx="4114800" cy="530352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8313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</a:t>
            </a:r>
            <a:r>
              <a:rPr lang="en-US" sz="1100" dirty="0">
                <a:solidFill>
                  <a:srgbClr val="CCFB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Machine Learning instead of manual weighted scoring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A162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"With more time, a village-level ML pipeline could provide near real-time economic intelligence for all of India"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4520E-7BE9-86FE-1192-D5C016EE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1CA44B-765A-D229-0E26-D1364F33E69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9D47B0C-039C-6A8F-5F06-D08E462F57DC}"/>
              </a:ext>
            </a:extLst>
          </p:cNvPr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69AB20-D5D6-3B5E-3D8F-B0A9115E5B62}"/>
              </a:ext>
            </a:extLst>
          </p:cNvPr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E08D66-535C-C955-9A2D-D9EE0A9D656F}"/>
              </a:ext>
            </a:extLst>
          </p:cNvPr>
          <p:cNvSpPr/>
          <p:nvPr/>
        </p:nvSpPr>
        <p:spPr>
          <a:xfrm>
            <a:off x="5029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37D6A15-B284-22F5-F679-92394BDDE7F1}"/>
              </a:ext>
            </a:extLst>
          </p:cNvPr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52B2ED-CCF5-697D-DE02-958933219FFE}"/>
              </a:ext>
            </a:extLst>
          </p:cNvPr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C87D3A-1ACE-F49A-BBCA-1C1633EC5229}"/>
              </a:ext>
            </a:extLst>
          </p:cNvPr>
          <p:cNvSpPr/>
          <p:nvPr/>
        </p:nvSpPr>
        <p:spPr>
          <a:xfrm>
            <a:off x="457200" y="30632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A3667EF-C697-C256-1F5E-CDDF7689293E}"/>
              </a:ext>
            </a:extLst>
          </p:cNvPr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696F22-9FD8-F4E7-BE73-7C867ABFE0EF}"/>
              </a:ext>
            </a:extLst>
          </p:cNvPr>
          <p:cNvSpPr/>
          <p:nvPr/>
        </p:nvSpPr>
        <p:spPr>
          <a:xfrm>
            <a:off x="73152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17513D-FBCE-BFCD-3796-FD97B5DAD235}"/>
              </a:ext>
            </a:extLst>
          </p:cNvPr>
          <p:cNvSpPr txBox="1"/>
          <p:nvPr/>
        </p:nvSpPr>
        <p:spPr>
          <a:xfrm>
            <a:off x="2115518" y="1469752"/>
            <a:ext cx="5943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 </a:t>
            </a: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33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586</Words>
  <Application>Microsoft Office PowerPoint</Application>
  <PresentationFormat>On-screen Show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Village Economic Growth Intelligence</dc:title>
  <dc:subject>PptxGenJS Presentation</dc:subject>
  <dc:creator>PptxGenJS</dc:creator>
  <cp:lastModifiedBy>Pallavi Bange</cp:lastModifiedBy>
  <cp:revision>2</cp:revision>
  <dcterms:created xsi:type="dcterms:W3CDTF">2026-05-14T03:55:17Z</dcterms:created>
  <dcterms:modified xsi:type="dcterms:W3CDTF">2026-05-14T04:45:40Z</dcterms:modified>
</cp:coreProperties>
</file>